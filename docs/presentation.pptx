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68" r:id="rId7"/>
    <p:sldId id="258" r:id="rId8"/>
    <p:sldId id="259" r:id="rId9"/>
    <p:sldId id="260" r:id="rId10"/>
    <p:sldId id="261" r:id="rId11"/>
    <p:sldId id="262" r:id="rId12"/>
    <p:sldId id="270" r:id="rId13"/>
    <p:sldId id="271" r:id="rId14"/>
    <p:sldId id="272" r:id="rId15"/>
    <p:sldId id="275" r:id="rId16"/>
    <p:sldId id="263" r:id="rId17"/>
    <p:sldId id="276" r:id="rId18"/>
    <p:sldId id="277" r:id="rId19"/>
    <p:sldId id="278" r:id="rId20"/>
    <p:sldId id="279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64" r:id="rId29"/>
    <p:sldId id="265" r:id="rId30"/>
    <p:sldId id="266" r:id="rId31"/>
    <p:sldId id="267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brièvement le contexte académique.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la soutenance.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la soutenance.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ce projet ? Problème de fragmentation des canaux.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rôles distincts avec droits et responsabilités spécifiques.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modules fonctionnels couvrant l'intégralité du cycle de vie.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états successifs – de la soumission à la clôture ou au rejet.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trois-tiers MVC légère – PHP natif pour maîtriser les fondamentaux.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trois-tiers MVC légère – PHP natif pour maîtriser les fondamentaux.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trois-tiers MVC légère – PHP natif pour maîtriser les fondamentaux.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trois-tiers MVC légère – PHP natif pour maîtriser les fondamentaux.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trois-tiers MVC légère – PHP natif pour maîtriser les fondamentaux.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modules principaux – entièrement fonctionnels et testés.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vecteurs testés – tous bloqués.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fonctionnels, sécurité et performance – application conforme aux exigences.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 positif et axes d'évolution identifiés.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la discussion. Remercier le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3" name="Shape 1"/>
          <p:cNvSpPr/>
          <p:nvPr/>
        </p:nvSpPr>
        <p:spPr>
          <a:xfrm>
            <a:off x="6492240" y="25603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6C4EF8">
              <a:alpha val="7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92240" y="256032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EMSI – 3ème année IIR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20624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9" name="Text 7"/>
          <p:cNvSpPr/>
          <p:nvPr/>
        </p:nvSpPr>
        <p:spPr>
          <a:xfrm>
            <a:off x="411480" y="2999105"/>
            <a:ext cx="2745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Réalisé par :</a:t>
            </a:r>
            <a:r>
              <a:rPr lang="en-US" sz="1300" dirty="0">
                <a:solidFill>
                  <a:srgbClr val="A99DC4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Mme. Fadil Ibtissam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3364865"/>
            <a:ext cx="27876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Encadré par :</a:t>
            </a:r>
            <a:r>
              <a:rPr lang="en-US" sz="1300" dirty="0">
                <a:solidFill>
                  <a:srgbClr val="A99DC4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Mme. Houda Orchi</a:t>
            </a:r>
            <a:endParaRPr lang="en-US" sz="13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57400" y="441375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Année universitaire : 2025-2026</a:t>
            </a:r>
            <a:endParaRPr lang="en-US" sz="115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Text 0"/>
          <p:cNvSpPr/>
          <p:nvPr/>
        </p:nvSpPr>
        <p:spPr>
          <a:xfrm>
            <a:off x="426720" y="701040"/>
            <a:ext cx="8229600" cy="197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Développement d'une Application Web</a:t>
            </a:r>
            <a:b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</a:br>
            <a:r>
              <a:rPr lang="en-US" sz="2400" b="1" dirty="0">
                <a:solidFill>
                  <a:srgbClr val="C4B5FD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de Gestion des Réclamations Clients</a:t>
            </a:r>
            <a:br>
              <a:rPr lang="en-US" sz="2400" b="1" dirty="0">
                <a:solidFill>
                  <a:srgbClr val="C4B5FD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</a:br>
            <a: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et du Suivi de Traitement</a:t>
            </a:r>
            <a:endParaRPr lang="en-US" altLang="en-US" sz="24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  <a:sym typeface="+mn-ea"/>
            </a:endParaRPr>
          </a:p>
        </p:txBody>
      </p:sp>
      <p:sp>
        <p:nvSpPr>
          <p:cNvPr id="21" name="Text 0"/>
          <p:cNvSpPr/>
          <p:nvPr/>
        </p:nvSpPr>
        <p:spPr>
          <a:xfrm>
            <a:off x="457200" y="-6781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Plan de la Présentation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Plan de la Présentation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-4669155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-4596003" y="12344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6" name="Text 4"/>
          <p:cNvSpPr/>
          <p:nvPr/>
        </p:nvSpPr>
        <p:spPr>
          <a:xfrm>
            <a:off x="-4596003" y="12344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01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-4074795" y="11978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Contexte &amp; Problématique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-4074795" y="15087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Pourquoi ce projet ?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-5222240" y="20574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-5149088" y="21488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11" name="Text 9"/>
          <p:cNvSpPr/>
          <p:nvPr/>
        </p:nvSpPr>
        <p:spPr>
          <a:xfrm>
            <a:off x="-5149088" y="21488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02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-4627880" y="21122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Acteurs &amp; Fonctionnalités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-4627880" y="24231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Qui fait quoi ?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5750560" y="2971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-5677408" y="30632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16" name="Text 14"/>
          <p:cNvSpPr/>
          <p:nvPr/>
        </p:nvSpPr>
        <p:spPr>
          <a:xfrm>
            <a:off x="-5677408" y="30632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03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-5156200" y="30266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Cycle de vie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-5156200" y="33375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Les 8 étapes d'une réclamation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-6320155" y="38862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-6247003" y="39776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21" name="Text 19"/>
          <p:cNvSpPr/>
          <p:nvPr/>
        </p:nvSpPr>
        <p:spPr>
          <a:xfrm>
            <a:off x="-6247003" y="39776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04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-5725795" y="39410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Architecture &amp; Technologies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-5725795" y="42519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MVC, PHP, MySQL, JS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90430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63582" y="12344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26" name="Text 24"/>
          <p:cNvSpPr/>
          <p:nvPr/>
        </p:nvSpPr>
        <p:spPr>
          <a:xfrm>
            <a:off x="9863582" y="12344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05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384790" y="11978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Réalisation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384790" y="15087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Modules et interfaces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401300" y="20574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74452" y="21488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31" name="Text 29"/>
          <p:cNvSpPr/>
          <p:nvPr/>
        </p:nvSpPr>
        <p:spPr>
          <a:xfrm>
            <a:off x="10474452" y="21488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06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95660" y="21122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Sécurité &amp; Tests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95660" y="24231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Validation et protection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036935" y="2971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110087" y="30632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36" name="Text 34"/>
          <p:cNvSpPr/>
          <p:nvPr/>
        </p:nvSpPr>
        <p:spPr>
          <a:xfrm>
            <a:off x="11110087" y="30632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07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631295" y="30266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Conclusion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631295" y="33375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Bilan et perspectives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7" name="Text 7"/>
          <p:cNvSpPr/>
          <p:nvPr/>
        </p:nvSpPr>
        <p:spPr>
          <a:xfrm>
            <a:off x="-3135630" y="2999105"/>
            <a:ext cx="2745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Réalisé par :</a:t>
            </a:r>
            <a:r>
              <a:rPr lang="en-US" sz="1300" dirty="0">
                <a:solidFill>
                  <a:srgbClr val="A99DC4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Mme. Fadil Ibtissam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8" name="Text 8"/>
          <p:cNvSpPr/>
          <p:nvPr/>
        </p:nvSpPr>
        <p:spPr>
          <a:xfrm>
            <a:off x="-3749040" y="3364865"/>
            <a:ext cx="27876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Encadré par :</a:t>
            </a:r>
            <a:r>
              <a:rPr lang="en-US" sz="1300" dirty="0">
                <a:solidFill>
                  <a:srgbClr val="A99DC4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Mme. Houda Orchi</a:t>
            </a:r>
            <a:endParaRPr lang="en-US" sz="13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9" name="Text 9"/>
          <p:cNvSpPr/>
          <p:nvPr/>
        </p:nvSpPr>
        <p:spPr>
          <a:xfrm>
            <a:off x="2057400" y="529386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Année universitaire : 2025-2026</a:t>
            </a:r>
            <a:endParaRPr lang="en-US" sz="115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1" name="Text 0"/>
          <p:cNvSpPr/>
          <p:nvPr/>
        </p:nvSpPr>
        <p:spPr>
          <a:xfrm>
            <a:off x="-9044305" y="705485"/>
            <a:ext cx="8229600" cy="197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Développement d'une Application Web</a:t>
            </a:r>
            <a:b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</a:br>
            <a:r>
              <a:rPr lang="en-US" sz="2400" b="1" dirty="0">
                <a:solidFill>
                  <a:srgbClr val="C4B5FD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de Gestion des Réclamations Clients</a:t>
            </a:r>
            <a:br>
              <a:rPr lang="en-US" sz="2400" b="1" dirty="0">
                <a:solidFill>
                  <a:srgbClr val="C4B5FD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</a:br>
            <a:r>
              <a:rPr lang="en-US" sz="24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  <a:sym typeface="+mn-ea"/>
              </a:rPr>
              <a:t>et du Suivi de Traitement</a:t>
            </a:r>
            <a:endParaRPr lang="en-US" altLang="en-US" sz="24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  <a:sym typeface="+mn-ea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9987280" y="25603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6C4EF8">
              <a:alpha val="75000"/>
            </a:srgbClr>
          </a:solidFill>
        </p:spPr>
      </p:sp>
      <p:sp>
        <p:nvSpPr>
          <p:cNvPr id="53" name="Text 2"/>
          <p:cNvSpPr/>
          <p:nvPr/>
        </p:nvSpPr>
        <p:spPr>
          <a:xfrm>
            <a:off x="9987280" y="256032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EMSI – 3ème année IIR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Plan de la Présentation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344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6" name="Text 4"/>
          <p:cNvSpPr/>
          <p:nvPr/>
        </p:nvSpPr>
        <p:spPr>
          <a:xfrm>
            <a:off x="530352" y="12344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01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1978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Contexte &amp; Problématique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Pourquoi ce projet ?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1488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11" name="Text 9"/>
          <p:cNvSpPr/>
          <p:nvPr/>
        </p:nvSpPr>
        <p:spPr>
          <a:xfrm>
            <a:off x="530352" y="21488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02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21122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Acteurs &amp; Fonctionnalités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Qui fait quoi ?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0632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16" name="Text 14"/>
          <p:cNvSpPr/>
          <p:nvPr/>
        </p:nvSpPr>
        <p:spPr>
          <a:xfrm>
            <a:off x="530352" y="30632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03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1560" y="30266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Cycle de vie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Les 8 étapes d'une réclamation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9776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21" name="Text 19"/>
          <p:cNvSpPr/>
          <p:nvPr/>
        </p:nvSpPr>
        <p:spPr>
          <a:xfrm>
            <a:off x="530352" y="39776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04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1560" y="39410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Architecture &amp; Technologies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MVC, PHP, MySQL, JS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2344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26" name="Text 24"/>
          <p:cNvSpPr/>
          <p:nvPr/>
        </p:nvSpPr>
        <p:spPr>
          <a:xfrm>
            <a:off x="4828032" y="12344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05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49240" y="11978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Réalisation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49240" y="15087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Modules et interfaces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21488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31" name="Text 29"/>
          <p:cNvSpPr/>
          <p:nvPr/>
        </p:nvSpPr>
        <p:spPr>
          <a:xfrm>
            <a:off x="4828032" y="21488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06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49240" y="21122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Sécurité &amp; Tests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9240" y="24231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Validation et protection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063240"/>
            <a:ext cx="438912" cy="530352"/>
          </a:xfrm>
          <a:prstGeom prst="roundRect">
            <a:avLst>
              <a:gd name="adj" fmla="val 16667"/>
            </a:avLst>
          </a:prstGeom>
          <a:solidFill>
            <a:srgbClr val="6C4EF8"/>
          </a:solidFill>
        </p:spPr>
      </p:sp>
      <p:sp>
        <p:nvSpPr>
          <p:cNvPr id="36" name="Text 34"/>
          <p:cNvSpPr/>
          <p:nvPr/>
        </p:nvSpPr>
        <p:spPr>
          <a:xfrm>
            <a:off x="4828032" y="3063240"/>
            <a:ext cx="4389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07</a:t>
            </a:r>
            <a:endParaRPr lang="en-US" sz="1600" b="1" dirty="0">
              <a:solidFill>
                <a:srgbClr val="FFFFFF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49240" y="3026664"/>
            <a:ext cx="3364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Conclusion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9240" y="3337560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Bilan et perspectives</a:t>
            </a:r>
            <a:endParaRPr lang="en-US" sz="1000" dirty="0"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Contexte &amp; Problématique</a:t>
            </a:r>
            <a:endParaRPr lang="en-US" sz="30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57200" y="1024128"/>
            <a:ext cx="8229600" cy="1371600"/>
          </a:xfrm>
          <a:prstGeom prst="roundRect">
            <a:avLst>
              <a:gd name="adj" fmla="val 9333"/>
            </a:avLst>
          </a:prstGeom>
          <a:solidFill>
            <a:srgbClr val="1C1048"/>
          </a:solidFill>
        </p:spPr>
      </p:sp>
      <p:sp>
        <p:nvSpPr>
          <p:cNvPr id="5" name="Text 3"/>
          <p:cNvSpPr/>
          <p:nvPr/>
        </p:nvSpPr>
        <p:spPr>
          <a:xfrm>
            <a:off x="685800" y="1078992"/>
            <a:ext cx="77724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Comment concevoir et développer une application web permettant de centraliser les réclamations, d'assurer le suivi de chaque dossier de bout en bout et d'améliorer l'efficacité du processus de traitement ?</a:t>
            </a:r>
            <a:endParaRPr lang="en-US" sz="2000" i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570480"/>
            <a:ext cx="2449830" cy="2221230"/>
          </a:xfrm>
          <a:prstGeom prst="roundRect">
            <a:avLst>
              <a:gd name="adj" fmla="val 5785"/>
            </a:avLst>
          </a:prstGeom>
          <a:solidFill>
            <a:srgbClr val="160E3A"/>
          </a:solidFill>
        </p:spPr>
      </p:sp>
      <p:sp>
        <p:nvSpPr>
          <p:cNvPr id="7" name="Shape 5"/>
          <p:cNvSpPr/>
          <p:nvPr/>
        </p:nvSpPr>
        <p:spPr>
          <a:xfrm>
            <a:off x="1325880" y="2703195"/>
            <a:ext cx="828040" cy="76200"/>
          </a:xfrm>
          <a:prstGeom prst="roundRect">
            <a:avLst>
              <a:gd name="adj" fmla="val 50000"/>
            </a:avLst>
          </a:prstGeom>
          <a:solidFill>
            <a:srgbClr val="6C4EF8"/>
          </a:solidFill>
        </p:spPr>
      </p:sp>
      <p:sp>
        <p:nvSpPr>
          <p:cNvPr id="9" name="Text 7"/>
          <p:cNvSpPr/>
          <p:nvPr/>
        </p:nvSpPr>
        <p:spPr>
          <a:xfrm>
            <a:off x="457200" y="3272155"/>
            <a:ext cx="2449830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Canaux dispersés</a:t>
            </a:r>
            <a:endParaRPr lang="en-US" sz="1400" b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5470" y="3608070"/>
            <a:ext cx="2212975" cy="1055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Email, téléphone, formulaire papier – aucune centralisation</a:t>
            </a:r>
            <a:endParaRPr lang="en-US" sz="1200" i="1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55975" y="2570480"/>
            <a:ext cx="2449830" cy="2221230"/>
          </a:xfrm>
          <a:prstGeom prst="roundRect">
            <a:avLst>
              <a:gd name="adj" fmla="val 5785"/>
            </a:avLst>
          </a:prstGeom>
          <a:solidFill>
            <a:srgbClr val="160E3A"/>
          </a:solidFill>
        </p:spPr>
      </p:sp>
      <p:sp>
        <p:nvSpPr>
          <p:cNvPr id="12" name="Shape 10"/>
          <p:cNvSpPr/>
          <p:nvPr/>
        </p:nvSpPr>
        <p:spPr>
          <a:xfrm>
            <a:off x="4224655" y="2703195"/>
            <a:ext cx="828040" cy="76200"/>
          </a:xfrm>
          <a:prstGeom prst="roundRect">
            <a:avLst>
              <a:gd name="adj" fmla="val 50000"/>
            </a:avLst>
          </a:prstGeom>
          <a:solidFill>
            <a:srgbClr val="6C4EF8"/>
          </a:solidFill>
        </p:spPr>
      </p:sp>
      <p:sp>
        <p:nvSpPr>
          <p:cNvPr id="14" name="Text 12"/>
          <p:cNvSpPr/>
          <p:nvPr/>
        </p:nvSpPr>
        <p:spPr>
          <a:xfrm>
            <a:off x="3355975" y="3272155"/>
            <a:ext cx="2449830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Perte de données</a:t>
            </a:r>
            <a:endParaRPr lang="en-US" sz="1400" b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83610" y="3608070"/>
            <a:ext cx="2212975" cy="1055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Réclamations perdues, délais excessifs, manque de traçabilité</a:t>
            </a:r>
            <a:endParaRPr lang="en-US" sz="1200" i="1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54750" y="2570480"/>
            <a:ext cx="2449830" cy="2221230"/>
          </a:xfrm>
          <a:prstGeom prst="roundRect">
            <a:avLst>
              <a:gd name="adj" fmla="val 5785"/>
            </a:avLst>
          </a:prstGeom>
          <a:solidFill>
            <a:srgbClr val="160E3A"/>
          </a:solidFill>
        </p:spPr>
      </p:sp>
      <p:sp>
        <p:nvSpPr>
          <p:cNvPr id="17" name="Shape 15"/>
          <p:cNvSpPr/>
          <p:nvPr/>
        </p:nvSpPr>
        <p:spPr>
          <a:xfrm>
            <a:off x="7066280" y="2703195"/>
            <a:ext cx="828040" cy="76200"/>
          </a:xfrm>
          <a:prstGeom prst="roundRect">
            <a:avLst>
              <a:gd name="adj" fmla="val 50000"/>
            </a:avLst>
          </a:prstGeom>
          <a:solidFill>
            <a:srgbClr val="6C4EF8"/>
          </a:solidFill>
        </p:spPr>
      </p:sp>
      <p:sp>
        <p:nvSpPr>
          <p:cNvPr id="19" name="Text 17"/>
          <p:cNvSpPr/>
          <p:nvPr/>
        </p:nvSpPr>
        <p:spPr>
          <a:xfrm>
            <a:off x="6254750" y="3272155"/>
            <a:ext cx="2449830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Manque de visibilité</a:t>
            </a:r>
            <a:endParaRPr lang="en-US" sz="1400" b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82385" y="3608070"/>
            <a:ext cx="2212975" cy="1055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Direction sans tableau de bord ni indicateurs de suivi</a:t>
            </a:r>
            <a:endParaRPr lang="en-US" sz="1200" i="1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365760" y="66014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6784340"/>
            <a:ext cx="530352" cy="530352"/>
          </a:xfrm>
          <a:prstGeom prst="rect">
            <a:avLst/>
          </a:prstGeom>
        </p:spPr>
      </p:pic>
      <p:sp>
        <p:nvSpPr>
          <p:cNvPr id="52" name="Text 3"/>
          <p:cNvSpPr/>
          <p:nvPr/>
        </p:nvSpPr>
        <p:spPr>
          <a:xfrm>
            <a:off x="365760" y="73787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Client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548640" y="77901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54" name="Text 5"/>
          <p:cNvSpPr/>
          <p:nvPr/>
        </p:nvSpPr>
        <p:spPr>
          <a:xfrm>
            <a:off x="475488" y="79090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Soumettre une réclamation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75488" y="83296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Suivre l'état du dossier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75488" y="87503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Répondre aux demandes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75488" y="91709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Valider la résolution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2487168" y="105130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4B35B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695940"/>
            <a:ext cx="530352" cy="530352"/>
          </a:xfrm>
          <a:prstGeom prst="rect">
            <a:avLst/>
          </a:prstGeom>
        </p:spPr>
      </p:pic>
      <p:sp>
        <p:nvSpPr>
          <p:cNvPr id="60" name="Text 10"/>
          <p:cNvSpPr/>
          <p:nvPr/>
        </p:nvSpPr>
        <p:spPr>
          <a:xfrm>
            <a:off x="2487295" y="112903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Agent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2670048" y="117017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62" name="Text 12"/>
          <p:cNvSpPr/>
          <p:nvPr/>
        </p:nvSpPr>
        <p:spPr>
          <a:xfrm>
            <a:off x="2596896" y="118206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Analyser le dossier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2596896" y="122412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Mettre à jour le statut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2596896" y="126619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Échanger avec le client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2596896" y="130825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Proposer une solution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4608576" y="142722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3A27A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4455140"/>
            <a:ext cx="530352" cy="530352"/>
          </a:xfrm>
          <a:prstGeom prst="rect">
            <a:avLst/>
          </a:prstGeom>
        </p:spPr>
      </p:pic>
      <p:sp>
        <p:nvSpPr>
          <p:cNvPr id="68" name="Text 17"/>
          <p:cNvSpPr/>
          <p:nvPr/>
        </p:nvSpPr>
        <p:spPr>
          <a:xfrm>
            <a:off x="4608830" y="150495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Superviseur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4791456" y="154609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70" name="Text 19"/>
          <p:cNvSpPr/>
          <p:nvPr/>
        </p:nvSpPr>
        <p:spPr>
          <a:xfrm>
            <a:off x="4718304" y="155798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Affecter / Réaffecter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4718304" y="160004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Surveiller les délais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4718304" y="164211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Contrôler la charge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4718304" y="168417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Consulter les indicateurs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729984" y="18021935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2D1E82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8204815"/>
            <a:ext cx="530352" cy="530352"/>
          </a:xfrm>
          <a:prstGeom prst="rect">
            <a:avLst/>
          </a:prstGeom>
        </p:spPr>
      </p:pic>
      <p:sp>
        <p:nvSpPr>
          <p:cNvPr id="76" name="Text 24"/>
          <p:cNvSpPr/>
          <p:nvPr/>
        </p:nvSpPr>
        <p:spPr>
          <a:xfrm>
            <a:off x="6730365" y="18799175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Administrateur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7" name="Shape 25"/>
          <p:cNvSpPr/>
          <p:nvPr/>
        </p:nvSpPr>
        <p:spPr>
          <a:xfrm>
            <a:off x="6912864" y="19210655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78" name="Text 26"/>
          <p:cNvSpPr/>
          <p:nvPr/>
        </p:nvSpPr>
        <p:spPr>
          <a:xfrm>
            <a:off x="6839712" y="19329527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Gérer les comptes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6839712" y="19750151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Configurer les rôles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6839712" y="20170775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Paramétrer catégories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6839712" y="20591399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Assurer la sécurité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Acteurs du Système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365760" y="10515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234440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Client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8" name="Text 5"/>
          <p:cNvSpPr/>
          <p:nvPr/>
        </p:nvSpPr>
        <p:spPr>
          <a:xfrm>
            <a:off x="475488" y="23591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Soumettre une réclamation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5488" y="27797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Suivre l'état du dossier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32004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Répondre aux demandes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5488" y="36210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Valider la résolution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7168" y="10515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4B35B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34440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87295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Agent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670048" y="22402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16" name="Text 12"/>
          <p:cNvSpPr/>
          <p:nvPr/>
        </p:nvSpPr>
        <p:spPr>
          <a:xfrm>
            <a:off x="2596896" y="23591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Analyser le dossier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596896" y="27797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Mettre à jour le statut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596896" y="32004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Échanger avec le client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596896" y="36210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Proposer une solution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608576" y="10515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3A27A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234440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08830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Superviseur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791456" y="22402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24" name="Text 19"/>
          <p:cNvSpPr/>
          <p:nvPr/>
        </p:nvSpPr>
        <p:spPr>
          <a:xfrm>
            <a:off x="4718304" y="23591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Affecter / Réaffecter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718304" y="27797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Surveiller les délais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718304" y="32004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Contrôler la charge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718304" y="36210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Consulter les indicateurs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729984" y="1051560"/>
            <a:ext cx="1965960" cy="3749040"/>
          </a:xfrm>
          <a:prstGeom prst="roundRect">
            <a:avLst>
              <a:gd name="adj" fmla="val 6512"/>
            </a:avLst>
          </a:prstGeom>
          <a:solidFill>
            <a:srgbClr val="2D1E82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234440"/>
            <a:ext cx="530352" cy="5303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30365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Administrateur</a:t>
            </a:r>
            <a:endParaRPr lang="en-US" sz="1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912864" y="2240280"/>
            <a:ext cx="1600200" cy="2286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2" name="Text 26"/>
          <p:cNvSpPr/>
          <p:nvPr/>
        </p:nvSpPr>
        <p:spPr>
          <a:xfrm>
            <a:off x="6839712" y="235915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Gérer les comptes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839712" y="2779776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Configurer les rôles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839712" y="3200400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Paramétrer catégories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839712" y="3621024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→  Assurer la sécurité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Fonctionnalités Clés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11480" y="109728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2070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6C4EF8">
              <a:alpha val="8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124712" y="120700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Authentification &amp; Rôles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" y="160934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Inscription / connexion sécurisée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19751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Gestion des droits par profil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24712" y="234086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Réinitialisation du mot de passe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0328" y="12070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6C4EF8">
              <a:alpha val="8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513832" y="120700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Gestion des Réclamations</a:t>
            </a:r>
            <a:endParaRPr lang="en-US" sz="13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13832" y="160934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Soumission avec pièces jointes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13832" y="19751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Numérotation unique REC-AAAANNNN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13832" y="234086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Historique horodaté complet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312724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6C4EF8">
              <a:alpha val="8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124712" y="312724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Affectation &amp; Traitement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4712" y="352958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Affectation par le superviseur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4712" y="389534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Transitions de statut contrôlées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4712" y="42611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Réaffectation si nécessaire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312724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6C4EF8">
              <a:alpha val="85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5513832" y="312724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Notifications &amp; Reporting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13832" y="352958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Alertes automatiques par statut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13832" y="389534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Tableau de bord décisionnel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13832" y="42611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✓  KPIs : taux résolution, délais</a:t>
            </a:r>
            <a:endParaRPr lang="en-US" sz="11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pic>
        <p:nvPicPr>
          <p:cNvPr id="32" name="Picture 31" descr="83103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200400"/>
            <a:ext cx="365760" cy="365760"/>
          </a:xfrm>
          <a:prstGeom prst="rect">
            <a:avLst/>
          </a:prstGeom>
        </p:spPr>
      </p:pic>
      <p:pic>
        <p:nvPicPr>
          <p:cNvPr id="33" name="Picture 32" descr="13557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pic>
        <p:nvPicPr>
          <p:cNvPr id="34" name="Picture 33" descr="1156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pic>
        <p:nvPicPr>
          <p:cNvPr id="35" name="Picture 34" descr="72675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Cycle de Vie d'une Réclamation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548640" y="1051560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6C4EF8"/>
          </a:solidFill>
        </p:spPr>
      </p:sp>
      <p:sp>
        <p:nvSpPr>
          <p:cNvPr id="5" name="Shape 3"/>
          <p:cNvSpPr/>
          <p:nvPr/>
        </p:nvSpPr>
        <p:spPr>
          <a:xfrm>
            <a:off x="1216152" y="1179576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216152" y="1179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4EF8"/>
                </a:solidFill>
                <a:latin typeface="LM Roman Caps 10" panose="00000500000000000000" charset="0"/>
                <a:cs typeface="LM Roman Caps 10" panose="00000500000000000000" charset="0"/>
              </a:rPr>
              <a:t>1</a:t>
            </a:r>
            <a:endParaRPr lang="en-US" sz="2000" b="1" dirty="0">
              <a:solidFill>
                <a:srgbClr val="6C4EF8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Nouvelle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23160" y="1819656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051560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5A3DE0"/>
          </a:solidFill>
        </p:spPr>
        <p:txBody>
          <a:bodyPr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79576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3246120" y="1179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3DE0"/>
                </a:solidFill>
                <a:latin typeface="LM Roman Caps 10" panose="00000500000000000000" charset="0"/>
                <a:cs typeface="LM Roman Caps 10" panose="00000500000000000000" charset="0"/>
              </a:rPr>
              <a:t>2</a:t>
            </a:r>
            <a:endParaRPr lang="en-US" sz="2000" b="1" dirty="0">
              <a:solidFill>
                <a:srgbClr val="5A3DE0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24328" y="1709928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En attente affect.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53128" y="1819656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051560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7C3AED"/>
          </a:solidFill>
        </p:spPr>
      </p:sp>
      <p:sp>
        <p:nvSpPr>
          <p:cNvPr id="15" name="Shape 13"/>
          <p:cNvSpPr/>
          <p:nvPr/>
        </p:nvSpPr>
        <p:spPr>
          <a:xfrm>
            <a:off x="5276088" y="1179576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276088" y="1179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LM Roman Caps 10" panose="00000500000000000000" charset="0"/>
                <a:cs typeface="LM Roman Caps 10" panose="00000500000000000000" charset="0"/>
              </a:rPr>
              <a:t>3</a:t>
            </a:r>
            <a:endParaRPr lang="en-US" sz="2000" b="1" dirty="0">
              <a:solidFill>
                <a:srgbClr val="7C3AED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54296" y="1709928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Affectée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83096" y="1819656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8544" y="1051560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8B5CF6"/>
          </a:solidFill>
        </p:spPr>
      </p:sp>
      <p:sp>
        <p:nvSpPr>
          <p:cNvPr id="20" name="Shape 18"/>
          <p:cNvSpPr/>
          <p:nvPr/>
        </p:nvSpPr>
        <p:spPr>
          <a:xfrm>
            <a:off x="7306056" y="1179576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7306056" y="1179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LM Roman Caps 10" panose="00000500000000000000" charset="0"/>
                <a:cs typeface="LM Roman Caps 10" panose="00000500000000000000" charset="0"/>
              </a:rPr>
              <a:t>4</a:t>
            </a:r>
            <a:endParaRPr lang="en-US" sz="2000" b="1" dirty="0">
              <a:solidFill>
                <a:srgbClr val="8B5CF6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84264" y="1709928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En cours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852928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A78BFA"/>
          </a:solidFill>
        </p:spPr>
      </p:sp>
      <p:sp>
        <p:nvSpPr>
          <p:cNvPr id="25" name="Shape 23"/>
          <p:cNvSpPr/>
          <p:nvPr/>
        </p:nvSpPr>
        <p:spPr>
          <a:xfrm>
            <a:off x="1216152" y="2980944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1216152" y="29809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LM Roman Caps 10" panose="00000500000000000000" charset="0"/>
                <a:cs typeface="LM Roman Caps 10" panose="00000500000000000000" charset="0"/>
              </a:rPr>
              <a:t>5</a:t>
            </a:r>
            <a:endParaRPr lang="en-US" sz="2000" b="1" dirty="0">
              <a:solidFill>
                <a:srgbClr val="A78BFA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" y="351129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Attente infos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423160" y="3621024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8608" y="2852928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4C1D95"/>
          </a:solidFill>
        </p:spPr>
      </p:sp>
      <p:sp>
        <p:nvSpPr>
          <p:cNvPr id="30" name="Shape 28"/>
          <p:cNvSpPr/>
          <p:nvPr/>
        </p:nvSpPr>
        <p:spPr>
          <a:xfrm>
            <a:off x="3246120" y="2980944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3246120" y="29809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LM Roman Caps 10" panose="00000500000000000000" charset="0"/>
                <a:cs typeface="LM Roman Caps 10" panose="00000500000000000000" charset="0"/>
              </a:rPr>
              <a:t>6</a:t>
            </a:r>
            <a:endParaRPr lang="en-US" sz="2000" b="1" dirty="0">
              <a:solidFill>
                <a:srgbClr val="4C1D95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24328" y="351129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Résolue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53128" y="3621024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2852928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2E1065"/>
          </a:solidFill>
        </p:spPr>
      </p:sp>
      <p:sp>
        <p:nvSpPr>
          <p:cNvPr id="35" name="Shape 33"/>
          <p:cNvSpPr/>
          <p:nvPr/>
        </p:nvSpPr>
        <p:spPr>
          <a:xfrm>
            <a:off x="5276088" y="2980944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276088" y="29809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1065"/>
                </a:solidFill>
                <a:latin typeface="LM Roman Caps 10" panose="00000500000000000000" charset="0"/>
                <a:cs typeface="LM Roman Caps 10" panose="00000500000000000000" charset="0"/>
              </a:rPr>
              <a:t>7</a:t>
            </a:r>
            <a:endParaRPr lang="en-US" sz="2000" b="1" dirty="0">
              <a:solidFill>
                <a:srgbClr val="2E1065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654296" y="351129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Clôturée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83096" y="3621024"/>
            <a:ext cx="109728" cy="0"/>
          </a:xfrm>
          <a:prstGeom prst="line">
            <a:avLst/>
          </a:prstGeom>
          <a:noFill/>
          <a:ln w="31750">
            <a:solidFill>
              <a:srgbClr val="C4B5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38544" y="2852928"/>
            <a:ext cx="1828800" cy="1536192"/>
          </a:xfrm>
          <a:prstGeom prst="roundRect">
            <a:avLst>
              <a:gd name="adj" fmla="val 8333"/>
            </a:avLst>
          </a:prstGeom>
          <a:solidFill>
            <a:srgbClr val="DC2626"/>
          </a:solidFill>
        </p:spPr>
      </p:sp>
      <p:sp>
        <p:nvSpPr>
          <p:cNvPr id="40" name="Shape 38"/>
          <p:cNvSpPr/>
          <p:nvPr/>
        </p:nvSpPr>
        <p:spPr>
          <a:xfrm>
            <a:off x="7306056" y="2980944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7306056" y="29809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LM Roman Caps 10" panose="00000500000000000000" charset="0"/>
                <a:cs typeface="LM Roman Caps 10" panose="00000500000000000000" charset="0"/>
              </a:rPr>
              <a:t>8</a:t>
            </a:r>
            <a:endParaRPr lang="en-US" sz="2000" b="1" dirty="0">
              <a:solidFill>
                <a:srgbClr val="DC2626"/>
              </a:solidFill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84264" y="351129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Rejetée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Architecture &amp; Technologies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57200" y="109728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5214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🖥️  </a:t>
            </a: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VUE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HTML · CSS · JavaScript ES Modules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1984248"/>
            <a:ext cx="0" cy="155448"/>
          </a:xfrm>
          <a:prstGeom prst="line">
            <a:avLst/>
          </a:prstGeom>
          <a:noFill/>
          <a:ln w="25400">
            <a:solidFill>
              <a:srgbClr val="6C4E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5A3DE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0370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</a:t>
            </a: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CONTRÔLEUR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PHP natif · Routage index.php · Auth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68880" y="3035808"/>
            <a:ext cx="0" cy="155448"/>
          </a:xfrm>
          <a:prstGeom prst="line">
            <a:avLst/>
          </a:prstGeom>
          <a:noFill/>
          <a:ln w="25400">
            <a:solidFill>
              <a:srgbClr val="6C4E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4B2FB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🗄️  </a:t>
            </a:r>
            <a:r>
              <a:rPr lang="en-US" sz="14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MODÈLE</a:t>
            </a:r>
            <a:endParaRPr lang="en-US" sz="14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63016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MySQL via PDO · Requêtes préparées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32120" y="10972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126174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PHP 8</a:t>
            </a:r>
            <a:endParaRPr lang="en-US" sz="1300" b="1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32120" y="171894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Backend natif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69480" y="10972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5A3DE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26174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MySQL</a:t>
            </a:r>
            <a:endParaRPr lang="en-US" sz="1300" b="1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69480" y="171894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Base de données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32120" y="242316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4B2FB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258762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effectLst/>
                <a:latin typeface="LM Roman 12" panose="00000500000000000000" charset="0"/>
                <a:cs typeface="LM Roman 12" panose="00000500000000000000" charset="0"/>
              </a:rPr>
              <a:t>PDO</a:t>
            </a:r>
            <a:endParaRPr lang="en-US" sz="1300" b="1" dirty="0">
              <a:solidFill>
                <a:schemeClr val="bg1"/>
              </a:solidFill>
              <a:effectLst/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32120" y="304482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Accès données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69480" y="242316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69480" y="258762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JS ES6+</a:t>
            </a:r>
            <a:endParaRPr lang="en-US" sz="1300" b="1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69480" y="304482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Frontend dynamique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532120" y="374904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5A3DE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391350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JSON API</a:t>
            </a:r>
            <a:endParaRPr lang="en-US" sz="1300" b="1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32120" y="437070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Échanges async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69480" y="374904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4B2FB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69480" y="3913505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MAMP</a:t>
            </a:r>
            <a:endParaRPr lang="en-US" sz="1300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LM Roman 12" panose="00000500000000000000" charset="0"/>
                <a:cs typeface="LM Roman 12" panose="00000500000000000000" charset="0"/>
              </a:rPr>
              <a:t>VS Code</a:t>
            </a:r>
            <a:endParaRPr lang="en-US" sz="1300" b="1" dirty="0">
              <a:solidFill>
                <a:schemeClr val="bg1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69480" y="4370705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Environnement dev</a:t>
            </a:r>
            <a:endParaRPr lang="en-US" sz="105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Diagrammes UML - Sélection</a:t>
            </a:r>
            <a:endParaRPr lang="en-US" sz="28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33" name="Picture 32" descr="use cas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37630"/>
            <a:ext cx="9144000" cy="4634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021715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  <a:sym typeface="+mn-ea"/>
              </a:rPr>
              <a:t>Diagrammes UML - Sélection</a:t>
            </a:r>
            <a:endParaRPr lang="en-US" sz="28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901319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33" name="Picture 32" descr="use cas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635"/>
            <a:ext cx="9144000" cy="4634865"/>
          </a:xfrm>
          <a:prstGeom prst="rect">
            <a:avLst/>
          </a:prstGeom>
        </p:spPr>
      </p:pic>
      <p:pic>
        <p:nvPicPr>
          <p:cNvPr id="4" name="Picture 3" descr="Diagramme sequance - deposer reclam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5" y="5067300"/>
            <a:ext cx="699389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use cas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799965"/>
            <a:ext cx="9144000" cy="4634865"/>
          </a:xfrm>
          <a:prstGeom prst="rect">
            <a:avLst/>
          </a:prstGeom>
        </p:spPr>
      </p:pic>
      <p:pic>
        <p:nvPicPr>
          <p:cNvPr id="5" name="Picture 4" descr="Diagramme sequance - deposer reclam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5" y="0"/>
            <a:ext cx="6993890" cy="5143500"/>
          </a:xfrm>
          <a:prstGeom prst="rect">
            <a:avLst/>
          </a:prstGeom>
        </p:spPr>
      </p:pic>
      <p:pic>
        <p:nvPicPr>
          <p:cNvPr id="8" name="Picture 7" descr="Diagramme des c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0690"/>
            <a:ext cx="9144000" cy="4333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me sequance - deposer reclam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55" y="-5365750"/>
            <a:ext cx="6993890" cy="5143500"/>
          </a:xfrm>
          <a:prstGeom prst="rect">
            <a:avLst/>
          </a:prstGeom>
        </p:spPr>
      </p:pic>
      <p:pic>
        <p:nvPicPr>
          <p:cNvPr id="8" name="Picture 7" descr="Diagramme des clas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8" y="464820"/>
            <a:ext cx="8891905" cy="42138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-4105275" y="283845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MLD &amp; MCD</a:t>
            </a:r>
            <a:endParaRPr lang="en-US" sz="28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725025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MLD &amp; MCD</a:t>
            </a:r>
            <a:endParaRPr lang="en-US" sz="28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23" name="Picture 22" descr="Diagramme des clas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8" y="5602605"/>
            <a:ext cx="8891905" cy="4213860"/>
          </a:xfrm>
          <a:prstGeom prst="rect">
            <a:avLst/>
          </a:prstGeom>
        </p:spPr>
      </p:pic>
      <p:pic>
        <p:nvPicPr>
          <p:cNvPr id="24" name="Picture 23" descr="M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400" y="0"/>
            <a:ext cx="9185275" cy="5036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84963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MLD &amp; MCD</a:t>
            </a:r>
            <a:endParaRPr lang="en-US" sz="2800" dirty="0"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91821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24" name="Picture 23" descr="M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18" y="176213"/>
            <a:ext cx="8736965" cy="4791075"/>
          </a:xfrm>
          <a:prstGeom prst="rect">
            <a:avLst/>
          </a:prstGeom>
        </p:spPr>
      </p:pic>
      <p:pic>
        <p:nvPicPr>
          <p:cNvPr id="4" name="Picture 3" descr="MC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5445125"/>
            <a:ext cx="8737600" cy="3977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M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83" y="-4918392"/>
            <a:ext cx="8736965" cy="4791075"/>
          </a:xfrm>
          <a:prstGeom prst="rect">
            <a:avLst/>
          </a:prstGeom>
        </p:spPr>
      </p:pic>
      <p:pic>
        <p:nvPicPr>
          <p:cNvPr id="4" name="Picture 3" descr="MC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477520"/>
            <a:ext cx="8737600" cy="3977005"/>
          </a:xfrm>
          <a:prstGeom prst="rect">
            <a:avLst/>
          </a:prstGeom>
        </p:spPr>
      </p:pic>
      <p:sp>
        <p:nvSpPr>
          <p:cNvPr id="40" name="Shape 2"/>
          <p:cNvSpPr/>
          <p:nvPr/>
        </p:nvSpPr>
        <p:spPr>
          <a:xfrm>
            <a:off x="-4941570" y="10972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"/>
          <p:cNvSpPr/>
          <p:nvPr/>
        </p:nvSpPr>
        <p:spPr>
          <a:xfrm>
            <a:off x="-4804410" y="1188720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Authentification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2" name="Text 4"/>
          <p:cNvSpPr/>
          <p:nvPr/>
        </p:nvSpPr>
        <p:spPr>
          <a:xfrm>
            <a:off x="-4804410" y="1517904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Page de connexion bcrypt, redirection par rôle, verrouillage après 5 tentatives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-9018270" y="2404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9"/>
          <p:cNvSpPr/>
          <p:nvPr/>
        </p:nvSpPr>
        <p:spPr>
          <a:xfrm>
            <a:off x="-8881110" y="249631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Affectation &amp; Statuts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-8881110" y="2825496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Interface superviseur : affecter, réaffecter. Agent : mettre à jour, proposer résolution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-13133070" y="3712464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15"/>
          <p:cNvSpPr/>
          <p:nvPr/>
        </p:nvSpPr>
        <p:spPr>
          <a:xfrm>
            <a:off x="-12995910" y="3803904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Tableau de Bord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-12995910" y="4133088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KPIs : 21 réclamations, 28.6% taux résolution, 263h délai moyen, répartition statuts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10058400" y="10972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6"/>
          <p:cNvSpPr/>
          <p:nvPr/>
        </p:nvSpPr>
        <p:spPr>
          <a:xfrm>
            <a:off x="10195560" y="1188720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Gestion Réclamations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1" name="Text 7"/>
          <p:cNvSpPr/>
          <p:nvPr/>
        </p:nvSpPr>
        <p:spPr>
          <a:xfrm>
            <a:off x="10195560" y="1517904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Formulaire de création, liste filtrée, détail avec pièces jointes et commentaires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14135100" y="2404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12"/>
          <p:cNvSpPr/>
          <p:nvPr/>
        </p:nvSpPr>
        <p:spPr>
          <a:xfrm>
            <a:off x="14272260" y="249631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Notifications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14272260" y="2825496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Centre de notifications en temps réel : changements de statut, affectations, réponses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18249900" y="3712464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18"/>
          <p:cNvSpPr/>
          <p:nvPr/>
        </p:nvSpPr>
        <p:spPr>
          <a:xfrm>
            <a:off x="18387060" y="3803904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Gestion Utilisateurs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8387060" y="4133088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Administration : créer, activer/désactiver, attribuer un rôle (admin, agent, superviseur)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8" name="Text 0"/>
          <p:cNvSpPr/>
          <p:nvPr/>
        </p:nvSpPr>
        <p:spPr>
          <a:xfrm>
            <a:off x="-60960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101727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-4577080"/>
            <a:ext cx="8737600" cy="39770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5" name="Picture 4" descr="Screenshot (6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0"/>
            <a:ext cx="9144000" cy="5143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10972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1188720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Authentification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517904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Page de connexion bcrypt, redirection par rôle, verrouillage après 5 tentatives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800600" y="10972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1188720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Gestion Réclamations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937760" y="1517904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Formulaire de création, liste filtrée, détail avec pièces jointes et commentaires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11480" y="2404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249631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Affectation &amp; Statuts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" y="2825496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Interface superviseur : affecter, réaffecter. Agent : mettre à jour, proposer résolution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800600" y="2404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37760" y="249631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Notifications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937760" y="2825496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Centre de notifications en temps réel : changements de statut, affectations, réponses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11480" y="3712464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48640" y="3803904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Tableau de Bord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48640" y="4133088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KPIs : 21 réclamations, 28.6% taux résolution, 263h délai moyen, répartition statuts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800600" y="3712464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937760" y="3803904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Gestion Utilisateurs</a:t>
            </a:r>
            <a:endParaRPr lang="en-US" sz="1300" b="1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937760" y="4133088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Administration : créer, activer/désactiver, attribuer un rôle (admin, agent, superviseur)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5" name="Picture 4" descr="Screenshot (6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 descr="Screenshot (6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5" name="Picture 4" descr="Screenshot (6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6" name="Picture 5" descr="Screenshot (6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Screenshot (6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6" name="Picture 5" descr="Screenshot (6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4" name="Picture 3" descr="Screenshot (6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 descr="Screenshot (6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4" name="Picture 3" descr="Screenshot (6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7" name="Picture 6" descr="Screenshot (6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Screenshot (7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7" name="Picture 6" descr="Screenshot (6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5" name="Picture 4" descr="Screenshot (7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7" name="Picture 6" descr="Screenshot (6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5" name="Picture 4" descr="Screenshot (7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90395" y="2886075"/>
            <a:ext cx="6996430" cy="2214880"/>
          </a:xfrm>
          <a:prstGeom prst="roundRect">
            <a:avLst>
              <a:gd name="adj" fmla="val 5271"/>
            </a:avLst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Screenshot (7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19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Réalisation – Interfaces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5" name="Picture 4" descr="Screenshot (7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6" name="Picture 5" descr="Screenshot (7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 descr="Screenshot (7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8966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pic>
        <p:nvPicPr>
          <p:cNvPr id="6" name="Picture 5" descr="Screenshot (7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0" y="0"/>
            <a:ext cx="9144000" cy="5143500"/>
          </a:xfrm>
          <a:prstGeom prst="rect">
            <a:avLst/>
          </a:prstGeom>
        </p:spPr>
      </p:pic>
      <p:pic>
        <p:nvPicPr>
          <p:cNvPr id="8" name="Picture 7" descr="Screenshot (7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Sécurité de l'Application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5" name="Text 3"/>
          <p:cNvSpPr/>
          <p:nvPr/>
        </p:nvSpPr>
        <p:spPr>
          <a:xfrm>
            <a:off x="530352" y="10241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Vecteur d'attaque</a:t>
            </a:r>
            <a:endParaRPr lang="en-US" sz="12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73552" y="1024128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Mécanisme de protection</a:t>
            </a:r>
            <a:endParaRPr lang="en-US" sz="12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0" y="102412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Résultat</a:t>
            </a:r>
            <a:endParaRPr lang="en-US" sz="12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493776"/>
          </a:xfrm>
          <a:prstGeom prst="rect">
            <a:avLst/>
          </a:prstGeom>
          <a:solidFill>
            <a:srgbClr val="1C1048"/>
          </a:solidFill>
        </p:spPr>
      </p:sp>
      <p:sp>
        <p:nvSpPr>
          <p:cNvPr id="9" name="Text 7"/>
          <p:cNvSpPr/>
          <p:nvPr/>
        </p:nvSpPr>
        <p:spPr>
          <a:xfrm>
            <a:off x="530352" y="155448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Injection SQL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73552" y="1554480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Requêtes préparées PDO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155448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Bloqué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493776"/>
          </a:xfrm>
          <a:prstGeom prst="rect">
            <a:avLst/>
          </a:prstGeom>
          <a:solidFill>
            <a:srgbClr val="160E3A"/>
          </a:solidFill>
        </p:spPr>
      </p:sp>
      <p:sp>
        <p:nvSpPr>
          <p:cNvPr id="13" name="Text 11"/>
          <p:cNvSpPr/>
          <p:nvPr/>
        </p:nvSpPr>
        <p:spPr>
          <a:xfrm>
            <a:off x="530352" y="2112264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Cross-Site Scripting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73552" y="2112264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htmlspecialchars() en sortie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2112264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Neutralisé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229600" cy="493776"/>
          </a:xfrm>
          <a:prstGeom prst="rect">
            <a:avLst/>
          </a:prstGeom>
          <a:solidFill>
            <a:srgbClr val="1C1048"/>
          </a:solidFill>
        </p:spPr>
      </p:sp>
      <p:sp>
        <p:nvSpPr>
          <p:cNvPr id="17" name="Text 15"/>
          <p:cNvSpPr/>
          <p:nvPr/>
        </p:nvSpPr>
        <p:spPr>
          <a:xfrm>
            <a:off x="530352" y="267004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CSRF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73552" y="2670048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Token X-CSRF + hash_equals()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0" y="267004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Rejeté (403)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493776"/>
          </a:xfrm>
          <a:prstGeom prst="rect">
            <a:avLst/>
          </a:prstGeom>
          <a:solidFill>
            <a:srgbClr val="160E3A"/>
          </a:solidFill>
        </p:spPr>
      </p:sp>
      <p:sp>
        <p:nvSpPr>
          <p:cNvPr id="21" name="Text 19"/>
          <p:cNvSpPr/>
          <p:nvPr/>
        </p:nvSpPr>
        <p:spPr>
          <a:xfrm>
            <a:off x="530352" y="3227832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Élévation de privilèges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73552" y="3227832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Auth::requireRole() sur chaque action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0" y="3227832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Bloqué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8229600" cy="493776"/>
          </a:xfrm>
          <a:prstGeom prst="rect">
            <a:avLst/>
          </a:prstGeom>
          <a:solidFill>
            <a:srgbClr val="1C1048"/>
          </a:solidFill>
        </p:spPr>
      </p:sp>
      <p:sp>
        <p:nvSpPr>
          <p:cNvPr id="25" name="Text 23"/>
          <p:cNvSpPr/>
          <p:nvPr/>
        </p:nvSpPr>
        <p:spPr>
          <a:xfrm>
            <a:off x="530352" y="3785616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Upload malveillant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73552" y="3785616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Vérif. MIME + taille ≤ 5 Mo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378561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Refusé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270248"/>
            <a:ext cx="8229600" cy="493776"/>
          </a:xfrm>
          <a:prstGeom prst="rect">
            <a:avLst/>
          </a:prstGeom>
          <a:solidFill>
            <a:srgbClr val="160E3A"/>
          </a:solidFill>
        </p:spPr>
      </p:sp>
      <p:sp>
        <p:nvSpPr>
          <p:cNvPr id="29" name="Text 27"/>
          <p:cNvSpPr/>
          <p:nvPr/>
        </p:nvSpPr>
        <p:spPr>
          <a:xfrm>
            <a:off x="530352" y="43434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Brute-force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73552" y="4343400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Verrouillage 15 min après 5 échecs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0" y="43434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Verrouillé</a:t>
            </a:r>
            <a:endParaRPr lang="en-US" sz="1200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040"/>
                </a:solidFill>
                <a:latin typeface="LM Roman Caps 10" panose="00000500000000000000" charset="0"/>
                <a:cs typeface="LM Roman Caps 10" panose="00000500000000000000" charset="0"/>
              </a:rPr>
              <a:t>Tests &amp; Validation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11480" y="1097280"/>
            <a:ext cx="1965960" cy="1207008"/>
          </a:xfrm>
          <a:prstGeom prst="roundRect">
            <a:avLst>
              <a:gd name="adj" fmla="val 9091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19659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100%</a:t>
            </a:r>
            <a:endParaRPr lang="en-US" sz="2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Tests fonctionnels</a:t>
            </a:r>
            <a:endParaRPr lang="en-US" sz="1200" dirty="0">
              <a:latin typeface="LM Roman 12" panose="00000500000000000000" charset="0"/>
              <a:cs typeface="LM Roman 12" panose="0000050000000000000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validés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32888" y="1097280"/>
            <a:ext cx="1965960" cy="1207008"/>
          </a:xfrm>
          <a:prstGeom prst="roundRect">
            <a:avLst>
              <a:gd name="adj" fmla="val 9091"/>
            </a:avLst>
          </a:prstGeom>
          <a:solidFill>
            <a:srgbClr val="5A3DE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32888" y="1170432"/>
            <a:ext cx="19659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6/6</a:t>
            </a:r>
            <a:endParaRPr lang="en-US" sz="2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32888" y="1737360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Vecteurs sécurité</a:t>
            </a:r>
            <a:endParaRPr lang="en-US" sz="1200" dirty="0">
              <a:latin typeface="LM Roman 12" panose="00000500000000000000" charset="0"/>
              <a:cs typeface="LM Roman 12" panose="0000050000000000000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bloqués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1965960" cy="1207008"/>
          </a:xfrm>
          <a:prstGeom prst="roundRect">
            <a:avLst>
              <a:gd name="adj" fmla="val 9091"/>
            </a:avLst>
          </a:prstGeom>
          <a:solidFill>
            <a:srgbClr val="6C4EF8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170432"/>
            <a:ext cx="19659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380ms</a:t>
            </a:r>
            <a:endParaRPr lang="en-US" sz="2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1737360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Temps max page</a:t>
            </a:r>
            <a:endParaRPr lang="en-US" sz="1200" dirty="0">
              <a:latin typeface="LM Roman 12" panose="00000500000000000000" charset="0"/>
              <a:cs typeface="LM Roman 12" panose="0000050000000000000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(tableau de bord)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75704" y="1097280"/>
            <a:ext cx="1965960" cy="1207008"/>
          </a:xfrm>
          <a:prstGeom prst="roundRect">
            <a:avLst>
              <a:gd name="adj" fmla="val 9091"/>
            </a:avLst>
          </a:prstGeom>
          <a:solidFill>
            <a:srgbClr val="5A3DE0"/>
          </a:solidFill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1170432"/>
            <a:ext cx="19659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10</a:t>
            </a:r>
            <a:endParaRPr lang="en-US" sz="26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75704" y="1737360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Requêtes simultanées</a:t>
            </a:r>
            <a:endParaRPr lang="en-US" sz="1200" dirty="0">
              <a:latin typeface="LM Roman 12" panose="00000500000000000000" charset="0"/>
              <a:cs typeface="LM Roman 12" panose="0000050000000000000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sans dégradation</a:t>
            </a:r>
            <a:endParaRPr lang="en-US" sz="12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solidFill>
            <a:srgbClr val="6C4EF8"/>
          </a:solidFill>
        </p:spPr>
        <p:txBody>
          <a:bodyPr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44144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Page / Endpoint</a:t>
            </a:r>
            <a:endParaRPr lang="en-US" sz="115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37560" y="2441448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Temps moyen</a:t>
            </a:r>
            <a:endParaRPr lang="en-US" sz="115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74920" y="244144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Observations</a:t>
            </a:r>
            <a:endParaRPr lang="en-US" sz="115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898648"/>
            <a:ext cx="822960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48640" y="294436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Page de connexion</a:t>
            </a:r>
            <a:endParaRPr lang="en-US" sz="1200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294436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E0"/>
                </a:solidFill>
                <a:latin typeface="LM Roman 12" panose="00000500000000000000" charset="0"/>
                <a:cs typeface="LM Roman 12" panose="00000500000000000000" charset="0"/>
              </a:rPr>
              <a:t>120 ms</a:t>
            </a:r>
            <a:endParaRPr lang="en-US" sz="1200" b="1" dirty="0">
              <a:solidFill>
                <a:srgbClr val="5A3DE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Statique, aucune requête lourde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319272"/>
            <a:ext cx="8229600" cy="384048"/>
          </a:xfrm>
          <a:prstGeom prst="rect">
            <a:avLst/>
          </a:prstGeom>
          <a:solidFill>
            <a:srgbClr val="EDE9FE"/>
          </a:solidFill>
        </p:spPr>
      </p:sp>
      <p:sp>
        <p:nvSpPr>
          <p:cNvPr id="25" name="Text 23"/>
          <p:cNvSpPr/>
          <p:nvPr/>
        </p:nvSpPr>
        <p:spPr>
          <a:xfrm>
            <a:off x="548640" y="336499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Tableau de bord Admin</a:t>
            </a:r>
            <a:endParaRPr lang="en-US" sz="1200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37560" y="336499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E0"/>
                </a:solidFill>
                <a:latin typeface="LM Roman 12" panose="00000500000000000000" charset="0"/>
                <a:cs typeface="LM Roman 12" panose="00000500000000000000" charset="0"/>
              </a:rPr>
              <a:t>380 ms</a:t>
            </a:r>
            <a:endParaRPr lang="en-US" sz="1200" b="1" dirty="0">
              <a:solidFill>
                <a:srgbClr val="5A3DE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74920" y="336499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Agrégations multiples en temps réel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739896"/>
            <a:ext cx="822960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48640" y="378561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Liste réclamations (50)</a:t>
            </a:r>
            <a:endParaRPr lang="en-US" sz="1200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37560" y="37856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E0"/>
                </a:solidFill>
                <a:latin typeface="LM Roman 12" panose="00000500000000000000" charset="0"/>
                <a:cs typeface="LM Roman 12" panose="00000500000000000000" charset="0"/>
              </a:rPr>
              <a:t>210 ms</a:t>
            </a:r>
            <a:endParaRPr lang="en-US" sz="1200" b="1" dirty="0">
              <a:solidFill>
                <a:srgbClr val="5A3DE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74920" y="378561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Requête paginée avec index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384048"/>
          </a:xfrm>
          <a:prstGeom prst="rect">
            <a:avLst/>
          </a:prstGeom>
          <a:solidFill>
            <a:srgbClr val="EDE9FE"/>
          </a:solidFill>
        </p:spPr>
      </p:sp>
      <p:sp>
        <p:nvSpPr>
          <p:cNvPr id="33" name="Text 31"/>
          <p:cNvSpPr/>
          <p:nvPr/>
        </p:nvSpPr>
        <p:spPr>
          <a:xfrm>
            <a:off x="548640" y="420624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Détail réclamation</a:t>
            </a:r>
            <a:endParaRPr lang="en-US" sz="1200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37560" y="42062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E0"/>
                </a:solidFill>
                <a:latin typeface="LM Roman 12" panose="00000500000000000000" charset="0"/>
                <a:cs typeface="LM Roman 12" panose="00000500000000000000" charset="0"/>
              </a:rPr>
              <a:t>175 ms</a:t>
            </a:r>
            <a:endParaRPr lang="en-US" sz="1200" b="1" dirty="0">
              <a:solidFill>
                <a:srgbClr val="5A3DE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74920" y="42062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Jointures sur 3 tables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4581144"/>
            <a:ext cx="822960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548640" y="4626864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40"/>
                </a:solidFill>
                <a:latin typeface="LM Roman 12" panose="00000500000000000000" charset="0"/>
                <a:cs typeface="LM Roman 12" panose="00000500000000000000" charset="0"/>
              </a:rPr>
              <a:t>Soumission réclamation</a:t>
            </a:r>
            <a:endParaRPr lang="en-US" sz="1200" dirty="0">
              <a:solidFill>
                <a:srgbClr val="1E104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37560" y="462686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E0"/>
                </a:solidFill>
                <a:latin typeface="LM Roman 12" panose="00000500000000000000" charset="0"/>
                <a:cs typeface="LM Roman 12" panose="00000500000000000000" charset="0"/>
              </a:rPr>
              <a:t>195 ms</a:t>
            </a:r>
            <a:endParaRPr lang="en-US" sz="1200" b="1" dirty="0">
              <a:solidFill>
                <a:srgbClr val="5A3DE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74920" y="462686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6FA0"/>
                </a:solidFill>
                <a:latin typeface="LM Roman 12" panose="00000500000000000000" charset="0"/>
                <a:cs typeface="LM Roman 12" panose="00000500000000000000" charset="0"/>
              </a:rPr>
              <a:t>Écriture + notification</a:t>
            </a:r>
            <a:endParaRPr lang="en-US" sz="1200" dirty="0">
              <a:solidFill>
                <a:srgbClr val="7C6FA0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LM Roman Caps 10" panose="00000500000000000000" charset="0"/>
                <a:cs typeface="LM Roman Caps 10" panose="00000500000000000000" charset="0"/>
              </a:rPr>
              <a:t>Conclusion &amp; Perspectives</a:t>
            </a:r>
            <a:endParaRPr lang="en-US" sz="2800" dirty="0">
              <a:latin typeface="LM Roman Caps 10" panose="00000500000000000000" charset="0"/>
              <a:cs typeface="LM Roman Caps 10" panose="0000050000000000000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6C4EF8"/>
          </a:solidFill>
        </p:spPr>
      </p:sp>
      <p:sp>
        <p:nvSpPr>
          <p:cNvPr id="4" name="Shape 2"/>
          <p:cNvSpPr/>
          <p:nvPr/>
        </p:nvSpPr>
        <p:spPr>
          <a:xfrm>
            <a:off x="411480" y="1005840"/>
            <a:ext cx="4069080" cy="3749040"/>
          </a:xfrm>
          <a:prstGeom prst="roundRect">
            <a:avLst>
              <a:gd name="adj" fmla="val 3415"/>
            </a:avLst>
          </a:prstGeom>
          <a:solidFill>
            <a:srgbClr val="1C1048"/>
          </a:solidFill>
        </p:spPr>
      </p:sp>
      <p:sp>
        <p:nvSpPr>
          <p:cNvPr id="5" name="Text 3"/>
          <p:cNvSpPr/>
          <p:nvPr/>
        </p:nvSpPr>
        <p:spPr>
          <a:xfrm>
            <a:off x="594360" y="109728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Bilan</a:t>
            </a:r>
            <a:endParaRPr lang="en-US" sz="1600" b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•  Application web complète &amp; fonctionnelle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854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•  Architecture MVC PHP natif maintenable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79806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•  4 modules validés par tests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•  Sécurité multi-couches (CSRF, bcrypt, PDO…)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•  Traçabilité bout-en-bout des réclamations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3749040"/>
          </a:xfrm>
          <a:prstGeom prst="roundRect">
            <a:avLst>
              <a:gd name="adj" fmla="val 3415"/>
            </a:avLst>
          </a:prstGeom>
          <a:solidFill>
            <a:srgbClr val="160E3A"/>
          </a:solidFill>
        </p:spPr>
      </p:sp>
      <p:sp>
        <p:nvSpPr>
          <p:cNvPr id="12" name="Text 10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LM Roman 12" panose="00000500000000000000" charset="0"/>
                <a:cs typeface="LM Roman 12" panose="00000500000000000000" charset="0"/>
              </a:rPr>
              <a:t>Perspectives</a:t>
            </a:r>
            <a:endParaRPr lang="en-US" sz="1600" b="1" dirty="0">
              <a:solidFill>
                <a:srgbClr val="C4B5FD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1572768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→  Export PDF des rapports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185416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→  Application mobile (React Native)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798064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→  Architecture API découplée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3410712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→  Classification IA des réclamations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DC4"/>
                </a:solidFill>
                <a:latin typeface="LM Roman 12" panose="00000500000000000000" charset="0"/>
                <a:cs typeface="LM Roman 12" panose="00000500000000000000" charset="0"/>
              </a:rPr>
              <a:t>→  Intégration e-mail &amp; SMS transactionnel</a:t>
            </a:r>
            <a:endParaRPr lang="en-US" sz="1200" dirty="0">
              <a:solidFill>
                <a:srgbClr val="A99DC4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4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0828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LM Roman 12" panose="00000500000000000000" charset="0"/>
                <a:cs typeface="LM Roman 12" panose="00000500000000000000" charset="0"/>
              </a:rPr>
              <a:t>Merci pour votre attention !</a:t>
            </a:r>
            <a:endParaRPr lang="en-US" sz="4000" b="1" dirty="0">
              <a:solidFill>
                <a:srgbClr val="FFFFFF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00828"/>
                </a:solidFill>
                <a:latin typeface="LM Roman 12" panose="00000500000000000000" charset="0"/>
                <a:cs typeface="LM Roman 12" panose="00000500000000000000" charset="0"/>
              </a:rPr>
              <a:t>Questions &amp; Discussion</a:t>
            </a:r>
            <a:endParaRPr lang="en-US" sz="2800" dirty="0">
              <a:solidFill>
                <a:srgbClr val="100828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0" y="3063240"/>
            <a:ext cx="4572000" cy="36576"/>
          </a:xfrm>
          <a:prstGeom prst="rect">
            <a:avLst/>
          </a:prstGeom>
          <a:solidFill>
            <a:srgbClr val="100828"/>
          </a:solidFill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DE9FE"/>
                </a:solidFill>
                <a:latin typeface="LM Roman 12" panose="00000500000000000000" charset="0"/>
                <a:cs typeface="LM Roman 12" panose="00000500000000000000" charset="0"/>
              </a:rPr>
              <a:t>Fadil Ibtissam  •  Encadrante : Mme. Houda Orchi  •  EMSI 2025-2026</a:t>
            </a:r>
            <a:endParaRPr lang="en-US" sz="1400" dirty="0">
              <a:solidFill>
                <a:srgbClr val="EDE9FE"/>
              </a:solidFill>
              <a:latin typeface="LM Roman 12" panose="00000500000000000000" charset="0"/>
              <a:cs typeface="LM Roman 12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6205</Words>
  <Application>WPS Presentation</Application>
  <PresentationFormat>On-screen Show (16:9)</PresentationFormat>
  <Paragraphs>525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SimSun</vt:lpstr>
      <vt:lpstr>Wingdings</vt:lpstr>
      <vt:lpstr>LM Roman 12</vt:lpstr>
      <vt:lpstr>LM Roman Caps 10</vt:lpstr>
      <vt:lpstr>Calibri</vt:lpstr>
      <vt:lpstr>Microsoft YaHei</vt:lpstr>
      <vt:lpstr>Arial Unicode MS</vt:lpstr>
      <vt:lpstr>MS PGothic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des Réclamations – PFA 2025-2026</dc:title>
  <dc:creator>PptxGenJS</dc:creator>
  <dc:subject>PptxGenJS Presentation</dc:subject>
  <cp:lastModifiedBy>SAMURAI YT</cp:lastModifiedBy>
  <cp:revision>23</cp:revision>
  <dcterms:created xsi:type="dcterms:W3CDTF">2026-06-22T09:34:00Z</dcterms:created>
  <dcterms:modified xsi:type="dcterms:W3CDTF">2026-06-25T21:07:15Z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09B7471C533246F2A668ADE6EC9E2B16_12</vt:lpwstr>
  </property>
</Properties>
</file>